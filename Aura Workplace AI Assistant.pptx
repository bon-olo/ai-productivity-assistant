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8515C6-0DDA-400B-8A82-CC17A004F6AB}" v="765" dt="2026-07-16T16:59:38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6:52:46.83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6T16:42:30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24575,'2093'0'0,"-2019"4"0,119 22 0,-58-6 0,-94-16 0,487 37 0,-514-41 0,25-2 0,0 2 0,0 2 0,0 1 0,-1 2 0,59 16 0,-62-11 0,1-2 0,-1-1 0,71 4 0,110-12 0,-109-2 0,2544 0 54,-1411 5-1473,-1207-2-5407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67297-538D-45BF-9884-4971FB2B0B26}" type="datetimeFigureOut">
              <a:rPr lang="en-GB" smtClean="0"/>
              <a:t>16/07/2026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FB3F1-305E-4F8B-B2F7-D56C5F0353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92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9B82-DDF6-4E92-8ACA-33920D921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84048-72D3-4E66-9768-5C509F2A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D6AD1-182C-413E-B99B-FF8B2BDE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7B2E-68E2-4222-A8C5-EB3F4FEF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2ABC-8A65-4503-8C31-F72E2120B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5852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189C4-9720-42E3-8234-A17C2C6F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4316E-C75F-48A6-9127-086921768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FD7A6-3C27-47BD-AEB1-F255DA708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6CA1-B99C-4623-A4A9-F0894D93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C8A3D-D916-4BB9-9AAC-701088DB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53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0EB7-68B9-4DC6-B4A1-515CE5D9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38EDD-056E-4689-9CC5-99122BC73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0CAA5-46BA-4A4A-B9B3-FB816A88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D8C93-F540-48C8-B1C3-EC3FDB30E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7379A-391F-4964-A284-82B215DB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80488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C4069-916B-4F56-A7A3-DB190B9D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32CF3-5602-4F84-8C4E-D797E7C09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453940-1164-4FAA-890F-3BC08F294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02C06-922C-4A1A-9365-F76F4A2E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1F551-3832-4536-9B04-861A4641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16359-6147-4059-B330-04FF6875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2299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3F4F-0A55-4996-90D6-AAE1BE5E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AA595-102A-4E7D-B71D-609DAD612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0A20D-881D-4DD8-BADE-FC9846EEA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4CB210-C444-42FD-9F30-C13E3F295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4BDC2E-2845-4E56-9583-6AC1D1A12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D57A0-3C3B-4FFD-9D5E-FF3B49F2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6E55A-83F2-4553-B9D8-BD6FB3C8D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367B5-2156-499A-96CD-FC93EC4D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037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7A35-5394-4F35-BC4E-3C35A666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E642D-642A-4126-A474-1E8F1C53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9C2AF5-2C80-4B4C-8B5E-3E3CEF26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AFC41-9F63-45E1-99E5-DDF2CA14D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184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F06E5-8FE6-4654-AEDC-5B1B24C05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14140-F81E-467F-AC9A-4DAAC07F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769EA9-A5D6-4FFE-BEEA-A52580CB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379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27BE-5B59-411F-8522-9ADDDF2B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C3543-3281-4F1D-BE21-EB40A9D81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A71F6-6CB3-4EA3-9E3F-543D3D0775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C938C-814D-4F4F-A8A2-171BF9B4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97F6C-1ADA-4DC2-B518-5254D5FD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16333-0721-4EEF-ACC6-AC240685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7388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8D29-936B-452E-9E9E-9E40904F9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E7BF2D-7C26-40B3-8DE0-5E3E50BAB4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53139-10F5-439C-9A18-7E1C0F468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76742-C1AF-4B4E-8646-9760FCEE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6FB23-9E28-43E2-A86E-D1BAE66C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07636-9827-45A1-8BD9-87062784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307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C8D12-9F4C-43F3-B17B-54248FCA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72FE11-D385-4C02-BC19-2F34DF343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7EA19-FA02-4987-898F-FC0F89C6A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079B0-7294-4C23-AAD6-49CE2E71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9CB0F-CCD9-4E00-9488-493B7B86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3083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C09667-A1F2-4659-A568-174571AD2F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9CBE5-6317-42F6-B86A-F9E6B1E79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5A095-5A95-4EFE-9465-14FFD3B8C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48895-1330-4E6F-A8A3-CE231981E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73327-2D84-42E2-B97A-EBE0A2B4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166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FD952-1066-4729-8496-206F2FC8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341F8-72D1-4AD6-B89B-67328660C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EA84F-F18E-40E0-A85D-813BC74E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9C622-28BE-4B9C-94B3-19F906E7976E}" type="datetimeFigureOut">
              <a:rPr lang="en-ZA" smtClean="0"/>
              <a:t>2026/07/16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786A13-0014-422F-A0A8-DBDCD8EB0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C1614-D441-4C57-AACD-2F1F8D901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C55D2-33EA-4A94-B717-7D66C9A7911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413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4FC792-082F-443A-A252-F1D2E2073BB2}"/>
              </a:ext>
            </a:extLst>
          </p:cNvPr>
          <p:cNvSpPr/>
          <p:nvPr/>
        </p:nvSpPr>
        <p:spPr>
          <a:xfrm>
            <a:off x="4928065" y="2295143"/>
            <a:ext cx="2335870" cy="2267714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AA1D59-4522-46D6-B06D-BC89B85D3519}"/>
              </a:ext>
            </a:extLst>
          </p:cNvPr>
          <p:cNvSpPr/>
          <p:nvPr/>
        </p:nvSpPr>
        <p:spPr>
          <a:xfrm>
            <a:off x="5260432" y="2566657"/>
            <a:ext cx="1671134" cy="1724684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5B3D3E-B9CD-4B29-BD0D-27FEC3672E0A}"/>
              </a:ext>
            </a:extLst>
          </p:cNvPr>
          <p:cNvSpPr/>
          <p:nvPr/>
        </p:nvSpPr>
        <p:spPr>
          <a:xfrm>
            <a:off x="5422412" y="2759617"/>
            <a:ext cx="1347174" cy="1338766"/>
          </a:xfrm>
          <a:prstGeom prst="ellipse">
            <a:avLst/>
          </a:prstGeom>
          <a:noFill/>
          <a:ln w="1905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1B25EE-EAB6-4964-A850-09674483C59B}"/>
              </a:ext>
            </a:extLst>
          </p:cNvPr>
          <p:cNvSpPr/>
          <p:nvPr/>
        </p:nvSpPr>
        <p:spPr>
          <a:xfrm rot="10800000">
            <a:off x="5653433" y="2999267"/>
            <a:ext cx="885132" cy="859464"/>
          </a:xfrm>
          <a:prstGeom prst="ellipse">
            <a:avLst/>
          </a:prstGeom>
          <a:noFill/>
          <a:ln w="762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9116D9B-1064-D25C-7815-8112459B191A}"/>
                  </a:ext>
                </a:extLst>
              </p14:cNvPr>
              <p14:cNvContentPartPr/>
              <p14:nvPr/>
            </p14:nvContentPartPr>
            <p14:xfrm>
              <a:off x="7750080" y="5932220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9116D9B-1064-D25C-7815-8112459B19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3960" y="592610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89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00"/>
    </mc:Choice>
    <mc:Fallback xmlns=""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4FC792-082F-443A-A252-F1D2E2073BB2}"/>
              </a:ext>
            </a:extLst>
          </p:cNvPr>
          <p:cNvSpPr/>
          <p:nvPr/>
        </p:nvSpPr>
        <p:spPr>
          <a:xfrm>
            <a:off x="-390833" y="-2868562"/>
            <a:ext cx="12973665" cy="12595123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1">
                    <a:lumMod val="75000"/>
                  </a:schemeClr>
                </a:gs>
                <a:gs pos="89000">
                  <a:srgbClr val="00206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FAA1D59-4522-46D6-B06D-BC89B85D3519}"/>
              </a:ext>
            </a:extLst>
          </p:cNvPr>
          <p:cNvSpPr/>
          <p:nvPr/>
        </p:nvSpPr>
        <p:spPr>
          <a:xfrm>
            <a:off x="1455173" y="-1360539"/>
            <a:ext cx="9281652" cy="9579076"/>
          </a:xfrm>
          <a:prstGeom prst="ellipse">
            <a:avLst/>
          </a:prstGeom>
          <a:noFill/>
          <a:ln w="1905000">
            <a:gradFill>
              <a:gsLst>
                <a:gs pos="0">
                  <a:schemeClr val="accent1">
                    <a:lumMod val="75000"/>
                  </a:schemeClr>
                </a:gs>
                <a:gs pos="64000">
                  <a:schemeClr val="accent1">
                    <a:lumMod val="5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E5B3D3E-B9CD-4B29-BD0D-27FEC3672E0A}"/>
              </a:ext>
            </a:extLst>
          </p:cNvPr>
          <p:cNvSpPr/>
          <p:nvPr/>
        </p:nvSpPr>
        <p:spPr>
          <a:xfrm>
            <a:off x="2354825" y="-288822"/>
            <a:ext cx="7482348" cy="7435643"/>
          </a:xfrm>
          <a:prstGeom prst="ellipse">
            <a:avLst/>
          </a:prstGeom>
          <a:noFill/>
          <a:ln w="1905000">
            <a:gradFill>
              <a:gsLst>
                <a:gs pos="0">
                  <a:srgbClr val="002060"/>
                </a:gs>
                <a:gs pos="71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1B25EE-EAB6-4964-A850-09674483C59B}"/>
              </a:ext>
            </a:extLst>
          </p:cNvPr>
          <p:cNvSpPr/>
          <p:nvPr/>
        </p:nvSpPr>
        <p:spPr>
          <a:xfrm>
            <a:off x="3637935" y="1042219"/>
            <a:ext cx="4916129" cy="4773561"/>
          </a:xfrm>
          <a:prstGeom prst="ellipse">
            <a:avLst/>
          </a:prstGeom>
          <a:noFill/>
          <a:ln w="76200">
            <a:gradFill>
              <a:gsLst>
                <a:gs pos="0">
                  <a:srgbClr val="002060"/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CC211-AE86-4B48-83BF-5F22FF63D82A}"/>
              </a:ext>
            </a:extLst>
          </p:cNvPr>
          <p:cNvSpPr/>
          <p:nvPr/>
        </p:nvSpPr>
        <p:spPr>
          <a:xfrm>
            <a:off x="3431170" y="2940932"/>
            <a:ext cx="5419140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</a:rPr>
              <a:t>Aura Workplace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5D98D-7913-479E-B1F3-1F76AD74EA0E}"/>
              </a:ext>
            </a:extLst>
          </p:cNvPr>
          <p:cNvSpPr txBox="1"/>
          <p:nvPr/>
        </p:nvSpPr>
        <p:spPr>
          <a:xfrm>
            <a:off x="5946305" y="3762556"/>
            <a:ext cx="794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By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364C27-5226-4BA0-A4C6-1AC3367281C8}"/>
              </a:ext>
            </a:extLst>
          </p:cNvPr>
          <p:cNvSpPr txBox="1"/>
          <p:nvPr/>
        </p:nvSpPr>
        <p:spPr>
          <a:xfrm>
            <a:off x="4563278" y="4080198"/>
            <a:ext cx="3275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Bonolo Masibi</a:t>
            </a:r>
          </a:p>
          <a:p>
            <a:r>
              <a:rPr lang="en-GB" b="1" dirty="0">
                <a:solidFill>
                  <a:schemeClr val="accent1">
                    <a:lumMod val="75000"/>
                  </a:schemeClr>
                </a:solidFill>
              </a:rPr>
              <a:t>CAPACITI AI Skills Programme</a:t>
            </a:r>
            <a:endParaRPr lang="en-ZA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0137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Tm="15000">
        <p159:morph option="byObject"/>
      </p:transition>
    </mc:Choice>
    <mc:Fallback xmlns="">
      <p:transition spd="slow" advTm="1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584200" y="1790699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05200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7" y="5571126"/>
            <a:ext cx="2676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B3B5E9E-6C1B-41DD-8845-AE0FF91C7A0F}"/>
              </a:ext>
            </a:extLst>
          </p:cNvPr>
          <p:cNvSpPr/>
          <p:nvPr/>
        </p:nvSpPr>
        <p:spPr>
          <a:xfrm>
            <a:off x="4429805" y="807918"/>
            <a:ext cx="6388100" cy="111684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CCCDF44-E6AC-44F6-B7D8-212DC0155622}"/>
              </a:ext>
            </a:extLst>
          </p:cNvPr>
          <p:cNvSpPr/>
          <p:nvPr/>
        </p:nvSpPr>
        <p:spPr>
          <a:xfrm>
            <a:off x="4429805" y="2134398"/>
            <a:ext cx="6388100" cy="11850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CAECDE5-63C2-4E9E-ACB1-3E9A91D0258A}"/>
              </a:ext>
            </a:extLst>
          </p:cNvPr>
          <p:cNvSpPr/>
          <p:nvPr/>
        </p:nvSpPr>
        <p:spPr>
          <a:xfrm>
            <a:off x="4429805" y="3458304"/>
            <a:ext cx="6388100" cy="12881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438F731-7404-400D-A0FB-9527EC17FF56}"/>
              </a:ext>
            </a:extLst>
          </p:cNvPr>
          <p:cNvSpPr/>
          <p:nvPr/>
        </p:nvSpPr>
        <p:spPr>
          <a:xfrm>
            <a:off x="4399309" y="4882442"/>
            <a:ext cx="6388100" cy="115034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0A32F7-0924-4267-BCC1-18BA762FC512}"/>
              </a:ext>
            </a:extLst>
          </p:cNvPr>
          <p:cNvSpPr txBox="1"/>
          <p:nvPr/>
        </p:nvSpPr>
        <p:spPr>
          <a:xfrm>
            <a:off x="4818729" y="1060084"/>
            <a:ext cx="60452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Writing Emails Takes Time</a:t>
            </a:r>
            <a:endParaRPr lang="en-ZA" sz="36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5E9A9A-6FD2-4CD6-9C7F-48313C2844EC}"/>
              </a:ext>
            </a:extLst>
          </p:cNvPr>
          <p:cNvSpPr txBox="1"/>
          <p:nvPr/>
        </p:nvSpPr>
        <p:spPr>
          <a:xfrm>
            <a:off x="4610780" y="2395091"/>
            <a:ext cx="602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Meeting notes can be lengthy</a:t>
            </a:r>
            <a:endParaRPr lang="en-ZA" sz="36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3AB9DF-1165-4A03-86DB-B9248ADDA771}"/>
              </a:ext>
            </a:extLst>
          </p:cNvPr>
          <p:cNvSpPr txBox="1"/>
          <p:nvPr/>
        </p:nvSpPr>
        <p:spPr>
          <a:xfrm>
            <a:off x="4652068" y="3810007"/>
            <a:ext cx="58825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Task Planning can be challenging</a:t>
            </a:r>
            <a:endParaRPr lang="en-ZA" sz="32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2B52AF-E792-45FB-A14C-133234E801B2}"/>
              </a:ext>
            </a:extLst>
          </p:cNvPr>
          <p:cNvSpPr txBox="1"/>
          <p:nvPr/>
        </p:nvSpPr>
        <p:spPr>
          <a:xfrm>
            <a:off x="4429805" y="5101224"/>
            <a:ext cx="7012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Repetitive work reduces productivity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91267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Tm="20000">
        <p159:morph option="byWord"/>
      </p:transition>
    </mc:Choice>
    <mc:Fallback xmlns="">
      <p:transition spd="slow" advTm="2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538162" y="2568847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05200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6" y="5550753"/>
            <a:ext cx="26765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5A568C-1C30-4B14-BCFD-161E858112B0}"/>
              </a:ext>
            </a:extLst>
          </p:cNvPr>
          <p:cNvSpPr/>
          <p:nvPr/>
        </p:nvSpPr>
        <p:spPr>
          <a:xfrm>
            <a:off x="5993056" y="776585"/>
            <a:ext cx="28982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Features:</a:t>
            </a:r>
          </a:p>
        </p:txBody>
      </p:sp>
      <p:pic>
        <p:nvPicPr>
          <p:cNvPr id="5" name="Graphic 4" descr="Envelope with solid fill">
            <a:extLst>
              <a:ext uri="{FF2B5EF4-FFF2-40B4-BE49-F238E27FC236}">
                <a16:creationId xmlns:a16="http://schemas.microsoft.com/office/drawing/2014/main" id="{945F1789-2AD8-44AC-B5D5-D61AB53AB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9069" y="18034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650BF6-44AE-4119-AFEE-95D089C6211C}"/>
              </a:ext>
            </a:extLst>
          </p:cNvPr>
          <p:cNvSpPr txBox="1"/>
          <p:nvPr/>
        </p:nvSpPr>
        <p:spPr>
          <a:xfrm>
            <a:off x="5321300" y="1891014"/>
            <a:ext cx="6203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Smart Email Generator</a:t>
            </a:r>
            <a:endParaRPr lang="en-ZA" sz="4400" b="1" dirty="0"/>
          </a:p>
        </p:txBody>
      </p:sp>
      <p:pic>
        <p:nvPicPr>
          <p:cNvPr id="8" name="Graphic 7" descr="Clipboard with solid fill">
            <a:extLst>
              <a:ext uri="{FF2B5EF4-FFF2-40B4-BE49-F238E27FC236}">
                <a16:creationId xmlns:a16="http://schemas.microsoft.com/office/drawing/2014/main" id="{C923C29D-D94D-494A-B979-64EB1C6EF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50" y="279246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D82E1A-4397-48D4-B315-782F1AB7D7A4}"/>
              </a:ext>
            </a:extLst>
          </p:cNvPr>
          <p:cNvSpPr txBox="1"/>
          <p:nvPr/>
        </p:nvSpPr>
        <p:spPr>
          <a:xfrm>
            <a:off x="5321300" y="2872846"/>
            <a:ext cx="6711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 dirty="0"/>
              <a:t>Meeting notes summarizer</a:t>
            </a:r>
            <a:endParaRPr lang="en-ZA" sz="4400" b="1" dirty="0"/>
          </a:p>
        </p:txBody>
      </p:sp>
      <p:pic>
        <p:nvPicPr>
          <p:cNvPr id="11" name="Graphic 10" descr="Clipboard Partially Checked with solid fill">
            <a:extLst>
              <a:ext uri="{FF2B5EF4-FFF2-40B4-BE49-F238E27FC236}">
                <a16:creationId xmlns:a16="http://schemas.microsoft.com/office/drawing/2014/main" id="{D1BA1EF2-8397-4316-8CE8-DBFAA53B83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7276" y="3876027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F8BC7C-49EC-43E0-900F-E15A9E981315}"/>
              </a:ext>
            </a:extLst>
          </p:cNvPr>
          <p:cNvSpPr txBox="1"/>
          <p:nvPr/>
        </p:nvSpPr>
        <p:spPr>
          <a:xfrm>
            <a:off x="5367338" y="3979284"/>
            <a:ext cx="58991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AI Task Planner</a:t>
            </a:r>
            <a:endParaRPr lang="en-ZA" sz="4000" b="1" dirty="0"/>
          </a:p>
        </p:txBody>
      </p:sp>
      <p:pic>
        <p:nvPicPr>
          <p:cNvPr id="14" name="Graphic 13" descr="Call center with solid fill">
            <a:extLst>
              <a:ext uri="{FF2B5EF4-FFF2-40B4-BE49-F238E27FC236}">
                <a16:creationId xmlns:a16="http://schemas.microsoft.com/office/drawing/2014/main" id="{C2B7DF6C-AF40-47AA-AAA9-1EB8F7E501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9069" y="5019637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2B4F2E0-DDA5-477B-9004-01A2454C5DA6}"/>
              </a:ext>
            </a:extLst>
          </p:cNvPr>
          <p:cNvSpPr txBox="1"/>
          <p:nvPr/>
        </p:nvSpPr>
        <p:spPr>
          <a:xfrm>
            <a:off x="5367338" y="5079998"/>
            <a:ext cx="5797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AI Workplace Assistant</a:t>
            </a:r>
            <a:endParaRPr lang="en-ZA" sz="4000" b="1" dirty="0"/>
          </a:p>
        </p:txBody>
      </p:sp>
    </p:spTree>
    <p:extLst>
      <p:ext uri="{BB962C8B-B14F-4D97-AF65-F5344CB8AC3E}">
        <p14:creationId xmlns:p14="http://schemas.microsoft.com/office/powerpoint/2010/main" val="36604578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0">
        <p159:morph option="byObject"/>
      </p:transition>
    </mc:Choice>
    <mc:Fallback xmlns="">
      <p:transition spd="slow" advTm="2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538162" y="3272251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05200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6" y="5587220"/>
            <a:ext cx="26765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3200" b="1" dirty="0">
              <a:solidFill>
                <a:schemeClr val="bg2"/>
              </a:solidFill>
            </a:endParaRPr>
          </a:p>
        </p:txBody>
      </p:sp>
      <p:pic>
        <p:nvPicPr>
          <p:cNvPr id="12" name="Graphic 11" descr="Envelope with solid fill">
            <a:extLst>
              <a:ext uri="{FF2B5EF4-FFF2-40B4-BE49-F238E27FC236}">
                <a16:creationId xmlns:a16="http://schemas.microsoft.com/office/drawing/2014/main" id="{E8505721-44F2-4894-B42B-F1C1A905F3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38079" y="1019720"/>
            <a:ext cx="914400" cy="914400"/>
          </a:xfrm>
          <a:prstGeom prst="rect">
            <a:avLst/>
          </a:prstGeom>
        </p:spPr>
      </p:pic>
      <p:pic>
        <p:nvPicPr>
          <p:cNvPr id="13" name="Graphic 12" descr="Clipboard with solid fill">
            <a:extLst>
              <a:ext uri="{FF2B5EF4-FFF2-40B4-BE49-F238E27FC236}">
                <a16:creationId xmlns:a16="http://schemas.microsoft.com/office/drawing/2014/main" id="{E1010A85-7305-4080-8180-8C1CA9DA3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6031" y="1019720"/>
            <a:ext cx="914400" cy="914400"/>
          </a:xfrm>
          <a:prstGeom prst="rect">
            <a:avLst/>
          </a:prstGeom>
        </p:spPr>
      </p:pic>
      <p:pic>
        <p:nvPicPr>
          <p:cNvPr id="14" name="Graphic 13" descr="Clipboard Partially Checked with solid fill">
            <a:extLst>
              <a:ext uri="{FF2B5EF4-FFF2-40B4-BE49-F238E27FC236}">
                <a16:creationId xmlns:a16="http://schemas.microsoft.com/office/drawing/2014/main" id="{6C06160F-E564-4E90-89AD-73DBBB854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6473" y="1019720"/>
            <a:ext cx="914400" cy="914400"/>
          </a:xfrm>
          <a:prstGeom prst="rect">
            <a:avLst/>
          </a:prstGeom>
        </p:spPr>
      </p:pic>
      <p:pic>
        <p:nvPicPr>
          <p:cNvPr id="15" name="Graphic 14" descr="Call center with solid fill">
            <a:extLst>
              <a:ext uri="{FF2B5EF4-FFF2-40B4-BE49-F238E27FC236}">
                <a16:creationId xmlns:a16="http://schemas.microsoft.com/office/drawing/2014/main" id="{3396F9AE-1726-4078-ACCB-6FE1919E16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46915" y="981620"/>
            <a:ext cx="914400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E1E90B-B1B7-46C8-AB0E-00B0B8EE4C00}"/>
              </a:ext>
            </a:extLst>
          </p:cNvPr>
          <p:cNvSpPr/>
          <p:nvPr/>
        </p:nvSpPr>
        <p:spPr>
          <a:xfrm>
            <a:off x="3927275" y="2158672"/>
            <a:ext cx="1536009" cy="31813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Generates professional emails</a:t>
            </a:r>
            <a:endParaRPr lang="en-ZA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AB817F-D018-445E-BE50-199CD9E8262E}"/>
              </a:ext>
            </a:extLst>
          </p:cNvPr>
          <p:cNvSpPr/>
          <p:nvPr/>
        </p:nvSpPr>
        <p:spPr>
          <a:xfrm>
            <a:off x="5885359" y="2158672"/>
            <a:ext cx="1536009" cy="31813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Creates Concise summaries</a:t>
            </a:r>
            <a:endParaRPr lang="en-Z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C0AD1A3-708B-46B2-AE57-B7A9AB7EB004}"/>
              </a:ext>
            </a:extLst>
          </p:cNvPr>
          <p:cNvSpPr/>
          <p:nvPr/>
        </p:nvSpPr>
        <p:spPr>
          <a:xfrm>
            <a:off x="7859264" y="2158672"/>
            <a:ext cx="1536009" cy="31813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Prioritizes tasks</a:t>
            </a:r>
            <a:endParaRPr lang="en-Z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E46A64-9B6E-4ED8-9881-15F669F8BA15}"/>
              </a:ext>
            </a:extLst>
          </p:cNvPr>
          <p:cNvSpPr/>
          <p:nvPr/>
        </p:nvSpPr>
        <p:spPr>
          <a:xfrm>
            <a:off x="9817100" y="2156869"/>
            <a:ext cx="1536009" cy="318135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Provides workplace support</a:t>
            </a:r>
            <a:endParaRPr lang="en-Z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7EE325-2958-4F63-8AC4-DE116060F5D6}"/>
              </a:ext>
            </a:extLst>
          </p:cNvPr>
          <p:cNvSpPr/>
          <p:nvPr/>
        </p:nvSpPr>
        <p:spPr>
          <a:xfrm>
            <a:off x="4015527" y="5551750"/>
            <a:ext cx="7337581" cy="67388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Together these features save time, improve productivity and reduces repetitive Admin work</a:t>
            </a:r>
            <a:endParaRPr lang="en-ZA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162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0">
        <p159:morph option="byObject"/>
      </p:transition>
    </mc:Choice>
    <mc:Fallback xmlns="">
      <p:transition spd="slow" advTm="20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630237" y="4062998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05200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6" y="5578754"/>
            <a:ext cx="26765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2400" b="1" dirty="0">
              <a:solidFill>
                <a:schemeClr val="bg2"/>
              </a:solidFill>
            </a:endParaRPr>
          </a:p>
          <a:p>
            <a:endParaRPr lang="en-ZA" sz="3200" b="1" dirty="0">
              <a:solidFill>
                <a:schemeClr val="bg2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CEDFA1-60D4-4D76-BF4A-261A98EB9C8D}"/>
              </a:ext>
            </a:extLst>
          </p:cNvPr>
          <p:cNvSpPr/>
          <p:nvPr/>
        </p:nvSpPr>
        <p:spPr>
          <a:xfrm>
            <a:off x="3960616" y="1168457"/>
            <a:ext cx="3554612" cy="4119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000" b="1" dirty="0">
                <a:solidFill>
                  <a:srgbClr val="00B0F0"/>
                </a:solidFill>
              </a:rPr>
              <a:t>Tools Used:</a:t>
            </a:r>
          </a:p>
          <a:p>
            <a:pPr algn="ctr"/>
            <a:r>
              <a:rPr lang="en-ZA" sz="4000" b="1" dirty="0">
                <a:solidFill>
                  <a:schemeClr val="tx1"/>
                </a:solidFill>
              </a:rPr>
              <a:t>Lovable</a:t>
            </a:r>
          </a:p>
          <a:p>
            <a:pPr algn="ctr"/>
            <a:r>
              <a:rPr lang="en-ZA" sz="4000" b="1" dirty="0" err="1">
                <a:solidFill>
                  <a:schemeClr val="tx1"/>
                </a:solidFill>
              </a:rPr>
              <a:t>ChatGPT</a:t>
            </a:r>
            <a:endParaRPr lang="en-ZA" sz="4000" b="1" dirty="0">
              <a:solidFill>
                <a:schemeClr val="tx1"/>
              </a:solidFill>
            </a:endParaRPr>
          </a:p>
          <a:p>
            <a:pPr algn="ctr"/>
            <a:r>
              <a:rPr lang="en-ZA" sz="4000" b="1" dirty="0">
                <a:solidFill>
                  <a:schemeClr val="tx1"/>
                </a:solidFill>
              </a:rPr>
              <a:t>GitHub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56EB41-5359-411A-B3E0-977A2B8BC333}"/>
              </a:ext>
            </a:extLst>
          </p:cNvPr>
          <p:cNvSpPr/>
          <p:nvPr/>
        </p:nvSpPr>
        <p:spPr>
          <a:xfrm>
            <a:off x="8001000" y="1168456"/>
            <a:ext cx="3554612" cy="41192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sz="2800" b="1" dirty="0">
                <a:solidFill>
                  <a:srgbClr val="00B0F0"/>
                </a:solidFill>
              </a:rPr>
              <a:t>Prompt used for Web Application development:</a:t>
            </a:r>
          </a:p>
          <a:p>
            <a:pPr algn="ctr"/>
            <a:r>
              <a:rPr lang="en-GB" sz="2800" b="1" dirty="0">
                <a:solidFill>
                  <a:schemeClr val="tx1"/>
                </a:solidFill>
              </a:rPr>
              <a:t>Please Build an AI-Powered workplace productivity assistant for professionals……</a:t>
            </a:r>
            <a:endParaRPr lang="en-ZA" sz="2800" b="1" dirty="0">
              <a:solidFill>
                <a:schemeClr val="tx1"/>
              </a:solidFill>
            </a:endParaRPr>
          </a:p>
        </p:txBody>
      </p:sp>
      <p:pic>
        <p:nvPicPr>
          <p:cNvPr id="7" name="Graphic 6" descr="Heart with solid fill">
            <a:extLst>
              <a:ext uri="{FF2B5EF4-FFF2-40B4-BE49-F238E27FC236}">
                <a16:creationId xmlns:a16="http://schemas.microsoft.com/office/drawing/2014/main" id="{794AD47F-D3FC-4DA5-931E-65DE3161C2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4359275" y="2720762"/>
            <a:ext cx="501650" cy="501650"/>
          </a:xfrm>
          <a:prstGeom prst="rect">
            <a:avLst/>
          </a:prstGeom>
        </p:spPr>
      </p:pic>
      <p:pic>
        <p:nvPicPr>
          <p:cNvPr id="9" name="Graphic 8" descr="Artificial Intelligence with solid fill">
            <a:extLst>
              <a:ext uri="{FF2B5EF4-FFF2-40B4-BE49-F238E27FC236}">
                <a16:creationId xmlns:a16="http://schemas.microsoft.com/office/drawing/2014/main" id="{C9299951-BBAA-46D1-81C5-0151F7CE5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59275" y="3282908"/>
            <a:ext cx="501650" cy="501650"/>
          </a:xfrm>
          <a:prstGeom prst="rect">
            <a:avLst/>
          </a:prstGeom>
        </p:spPr>
      </p:pic>
      <p:pic>
        <p:nvPicPr>
          <p:cNvPr id="11" name="Graphic 10" descr="Kitten with solid fill">
            <a:extLst>
              <a:ext uri="{FF2B5EF4-FFF2-40B4-BE49-F238E27FC236}">
                <a16:creationId xmlns:a16="http://schemas.microsoft.com/office/drawing/2014/main" id="{FCE016E6-2BF7-4026-88A9-6507E8E73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6725" y="3886413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0">
        <p159:morph option="byObject"/>
      </p:transition>
    </mc:Choice>
    <mc:Fallback xmlns="">
      <p:transition spd="slow" advTm="20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630237" y="4783135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05200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7" y="5566505"/>
            <a:ext cx="26765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2400" b="1" dirty="0">
              <a:solidFill>
                <a:schemeClr val="bg2"/>
              </a:solidFill>
            </a:endParaRPr>
          </a:p>
          <a:p>
            <a:endParaRPr lang="en-ZA" sz="3200" b="1" dirty="0">
              <a:solidFill>
                <a:schemeClr val="bg2"/>
              </a:solidFill>
            </a:endParaRPr>
          </a:p>
        </p:txBody>
      </p:sp>
      <p:pic>
        <p:nvPicPr>
          <p:cNvPr id="4" name="Graphic 3" descr="Close with solid fill">
            <a:extLst>
              <a:ext uri="{FF2B5EF4-FFF2-40B4-BE49-F238E27FC236}">
                <a16:creationId xmlns:a16="http://schemas.microsoft.com/office/drawing/2014/main" id="{A9E67E21-C4E3-4850-9786-8D1617C06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0913" y="3649660"/>
            <a:ext cx="914400" cy="914400"/>
          </a:xfrm>
          <a:prstGeom prst="rect">
            <a:avLst/>
          </a:prstGeom>
        </p:spPr>
      </p:pic>
      <p:pic>
        <p:nvPicPr>
          <p:cNvPr id="14" name="Graphic 13" descr="Close with solid fill">
            <a:extLst>
              <a:ext uri="{FF2B5EF4-FFF2-40B4-BE49-F238E27FC236}">
                <a16:creationId xmlns:a16="http://schemas.microsoft.com/office/drawing/2014/main" id="{BA91A274-1609-4D4D-924F-ED341F53B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20913" y="1023940"/>
            <a:ext cx="914400" cy="914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CFBE53-CDF2-4C92-9416-A2A4333C61A0}"/>
              </a:ext>
            </a:extLst>
          </p:cNvPr>
          <p:cNvSpPr txBox="1"/>
          <p:nvPr/>
        </p:nvSpPr>
        <p:spPr>
          <a:xfrm>
            <a:off x="5080000" y="1188752"/>
            <a:ext cx="6972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README Displayed Raw Markdown</a:t>
            </a:r>
            <a:endParaRPr lang="en-ZA" sz="3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BD0D2-7252-4AB1-BAF6-856C0D1CE699}"/>
              </a:ext>
            </a:extLst>
          </p:cNvPr>
          <p:cNvSpPr txBox="1"/>
          <p:nvPr/>
        </p:nvSpPr>
        <p:spPr>
          <a:xfrm>
            <a:off x="5080000" y="3840785"/>
            <a:ext cx="697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Task Planner Output needed Improvement</a:t>
            </a:r>
            <a:endParaRPr lang="en-ZA" sz="2800" b="1" dirty="0">
              <a:solidFill>
                <a:srgbClr val="FF0000"/>
              </a:solidFill>
            </a:endParaRPr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46B9F94E-CFBC-47EC-AE82-8B70BE7634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250" y="2415232"/>
            <a:ext cx="914400" cy="914400"/>
          </a:xfrm>
          <a:prstGeom prst="rect">
            <a:avLst/>
          </a:prstGeom>
        </p:spPr>
      </p:pic>
      <p:pic>
        <p:nvPicPr>
          <p:cNvPr id="19" name="Graphic 18" descr="Checkmark with solid fill">
            <a:extLst>
              <a:ext uri="{FF2B5EF4-FFF2-40B4-BE49-F238E27FC236}">
                <a16:creationId xmlns:a16="http://schemas.microsoft.com/office/drawing/2014/main" id="{C38722F7-483E-49C2-8DA0-7CB6A99259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5250" y="5004595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182330-A187-46ED-A98E-CBF61E872718}"/>
              </a:ext>
            </a:extLst>
          </p:cNvPr>
          <p:cNvSpPr txBox="1"/>
          <p:nvPr/>
        </p:nvSpPr>
        <p:spPr>
          <a:xfrm>
            <a:off x="5018088" y="2449772"/>
            <a:ext cx="683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rgbClr val="00B050"/>
                </a:solidFill>
              </a:rPr>
              <a:t>Corrected Markdown formatting</a:t>
            </a:r>
            <a:endParaRPr lang="en-ZA" sz="36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BF5AAF-68CA-4D2E-8ED4-DFF947033CD0}"/>
              </a:ext>
            </a:extLst>
          </p:cNvPr>
          <p:cNvSpPr txBox="1"/>
          <p:nvPr/>
        </p:nvSpPr>
        <p:spPr>
          <a:xfrm>
            <a:off x="5170488" y="5040250"/>
            <a:ext cx="58229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B050"/>
                </a:solidFill>
              </a:rPr>
              <a:t>Refined Prompts through Testing</a:t>
            </a:r>
            <a:endParaRPr lang="en-ZA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323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0">
        <p159:morph option="byObject"/>
      </p:transition>
    </mc:Choice>
    <mc:Fallback xmlns="">
      <p:transition spd="slow" advTm="20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A8A1282-36C3-4FA8-B33D-7F524A08860A}"/>
              </a:ext>
            </a:extLst>
          </p:cNvPr>
          <p:cNvSpPr/>
          <p:nvPr/>
        </p:nvSpPr>
        <p:spPr>
          <a:xfrm>
            <a:off x="630237" y="5592074"/>
            <a:ext cx="3190676" cy="593725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DAE6A7-4F64-4758-A9BB-CECE808F92B4}"/>
              </a:ext>
            </a:extLst>
          </p:cNvPr>
          <p:cNvSpPr/>
          <p:nvPr/>
        </p:nvSpPr>
        <p:spPr>
          <a:xfrm>
            <a:off x="3586946" y="596900"/>
            <a:ext cx="8458200" cy="5784850"/>
          </a:xfrm>
          <a:prstGeom prst="roundRect">
            <a:avLst>
              <a:gd name="adj" fmla="val 474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3600" b="1" dirty="0">
              <a:solidFill>
                <a:srgbClr val="00B0F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FED0B9-3E2F-4974-9E1F-7525CC1296CC}"/>
              </a:ext>
            </a:extLst>
          </p:cNvPr>
          <p:cNvSpPr/>
          <p:nvPr/>
        </p:nvSpPr>
        <p:spPr>
          <a:xfrm>
            <a:off x="0" y="-77789"/>
            <a:ext cx="158819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Aura</a:t>
            </a:r>
            <a:r>
              <a:rPr lang="en-US" sz="5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</a:t>
            </a:r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8963F9-C360-41D3-B542-E2AA53F52578}"/>
              </a:ext>
            </a:extLst>
          </p:cNvPr>
          <p:cNvSpPr/>
          <p:nvPr/>
        </p:nvSpPr>
        <p:spPr>
          <a:xfrm>
            <a:off x="0" y="596900"/>
            <a:ext cx="365510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1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</a:rPr>
              <a:t>Workplace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7AABD2-8981-434E-A8BD-B84C6C4F2E09}"/>
              </a:ext>
            </a:extLst>
          </p:cNvPr>
          <p:cNvSpPr txBox="1"/>
          <p:nvPr/>
        </p:nvSpPr>
        <p:spPr>
          <a:xfrm>
            <a:off x="676275" y="1885193"/>
            <a:ext cx="2736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Problem Statement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C42C77-97F5-446F-B8BA-9DF952E9D23A}"/>
              </a:ext>
            </a:extLst>
          </p:cNvPr>
          <p:cNvSpPr txBox="1"/>
          <p:nvPr/>
        </p:nvSpPr>
        <p:spPr>
          <a:xfrm>
            <a:off x="676275" y="2641600"/>
            <a:ext cx="2740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Solution Overview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25BE90-D948-43B0-B152-BA154916F71A}"/>
              </a:ext>
            </a:extLst>
          </p:cNvPr>
          <p:cNvSpPr txBox="1"/>
          <p:nvPr/>
        </p:nvSpPr>
        <p:spPr>
          <a:xfrm>
            <a:off x="630237" y="3353671"/>
            <a:ext cx="26765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>
                <a:solidFill>
                  <a:schemeClr val="bg2"/>
                </a:solidFill>
              </a:rPr>
              <a:t>Features and Impact</a:t>
            </a:r>
            <a:endParaRPr lang="en-ZA" sz="2200" b="1" dirty="0">
              <a:solidFill>
                <a:schemeClr val="bg2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7676B-9898-467C-A7AA-5CF1B9457E97}"/>
              </a:ext>
            </a:extLst>
          </p:cNvPr>
          <p:cNvSpPr txBox="1"/>
          <p:nvPr/>
        </p:nvSpPr>
        <p:spPr>
          <a:xfrm>
            <a:off x="630237" y="4102395"/>
            <a:ext cx="3098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2"/>
                </a:solidFill>
              </a:rPr>
              <a:t>Tools and Prompts</a:t>
            </a:r>
            <a:endParaRPr lang="en-ZA" sz="2400" b="1" dirty="0">
              <a:solidFill>
                <a:schemeClr val="bg2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702B14-E92C-4259-9EE2-B66F6DFBF19C}"/>
              </a:ext>
            </a:extLst>
          </p:cNvPr>
          <p:cNvSpPr txBox="1"/>
          <p:nvPr/>
        </p:nvSpPr>
        <p:spPr>
          <a:xfrm>
            <a:off x="630237" y="4872249"/>
            <a:ext cx="282892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b="1" dirty="0">
                <a:solidFill>
                  <a:schemeClr val="bg2"/>
                </a:solidFill>
              </a:rPr>
              <a:t>Challenges &amp; Solutions</a:t>
            </a:r>
            <a:endParaRPr lang="en-ZA" sz="2100" b="1" dirty="0">
              <a:solidFill>
                <a:schemeClr val="bg2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A15868E-E439-4FD2-9F2B-7DF79D511E48}"/>
              </a:ext>
            </a:extLst>
          </p:cNvPr>
          <p:cNvSpPr txBox="1"/>
          <p:nvPr/>
        </p:nvSpPr>
        <p:spPr>
          <a:xfrm>
            <a:off x="630237" y="5566505"/>
            <a:ext cx="26765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bg2"/>
                </a:solidFill>
              </a:rPr>
              <a:t>Conclusion</a:t>
            </a:r>
            <a:endParaRPr lang="en-ZA" sz="3200" b="1" dirty="0">
              <a:solidFill>
                <a:schemeClr val="bg2"/>
              </a:solidFill>
            </a:endParaRPr>
          </a:p>
          <a:p>
            <a:endParaRPr lang="en-ZA" sz="3200" b="1" dirty="0">
              <a:solidFill>
                <a:schemeClr val="bg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90451A-9FEC-0CBA-8808-80829CA4F889}"/>
              </a:ext>
            </a:extLst>
          </p:cNvPr>
          <p:cNvSpPr/>
          <p:nvPr/>
        </p:nvSpPr>
        <p:spPr>
          <a:xfrm>
            <a:off x="4228019" y="1562027"/>
            <a:ext cx="6930727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Aura Workplace Ai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2F866D-98CC-53CF-9E65-8A73F95A687C}"/>
              </a:ext>
            </a:extLst>
          </p:cNvPr>
          <p:cNvSpPr/>
          <p:nvPr/>
        </p:nvSpPr>
        <p:spPr>
          <a:xfrm>
            <a:off x="3901161" y="2830976"/>
            <a:ext cx="7829771" cy="20621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Demonstrates how Artificial Intelligence Can 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Be applied to solve Workplace Challenges, 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Helping users work more efficiently and stay </a:t>
            </a:r>
          </a:p>
          <a:p>
            <a:pPr algn="ctr"/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Organized.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85F60D-10F4-4AEB-94AF-DC34C53A6447}"/>
                  </a:ext>
                </a:extLst>
              </p14:cNvPr>
              <p14:cNvContentPartPr/>
              <p14:nvPr/>
            </p14:nvContentPartPr>
            <p14:xfrm>
              <a:off x="401400" y="1293322"/>
              <a:ext cx="2818440" cy="57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85F60D-10F4-4AEB-94AF-DC34C53A64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0" y="1287202"/>
                <a:ext cx="2830680" cy="6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6684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0000">
        <p159:morph option="byWord"/>
      </p:transition>
    </mc:Choice>
    <mc:Fallback xmlns="">
      <p:transition spd="slow" advTm="20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bstract nylon string background">
            <a:extLst>
              <a:ext uri="{FF2B5EF4-FFF2-40B4-BE49-F238E27FC236}">
                <a16:creationId xmlns:a16="http://schemas.microsoft.com/office/drawing/2014/main" id="{34E02FA9-F0A6-4096-A8C5-F7412D5CC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50"/>
            <a:ext cx="12192000" cy="7080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97D9A-8F88-4427-AB83-81D078B8D063}"/>
              </a:ext>
            </a:extLst>
          </p:cNvPr>
          <p:cNvSpPr txBox="1"/>
          <p:nvPr/>
        </p:nvSpPr>
        <p:spPr>
          <a:xfrm>
            <a:off x="1615808" y="-133350"/>
            <a:ext cx="10576192" cy="8102600"/>
          </a:xfrm>
          <a:custGeom>
            <a:avLst/>
            <a:gdLst/>
            <a:ahLst/>
            <a:cxnLst/>
            <a:rect l="l" t="t" r="r" b="b"/>
            <a:pathLst>
              <a:path w="10576192" h="8102600">
                <a:moveTo>
                  <a:pt x="2469417" y="3740789"/>
                </a:moveTo>
                <a:cubicBezTo>
                  <a:pt x="2431099" y="3740789"/>
                  <a:pt x="2402362" y="3748297"/>
                  <a:pt x="2383203" y="3763313"/>
                </a:cubicBezTo>
                <a:cubicBezTo>
                  <a:pt x="2364045" y="3778330"/>
                  <a:pt x="2354465" y="3799300"/>
                  <a:pt x="2354465" y="3826226"/>
                </a:cubicBezTo>
                <a:cubicBezTo>
                  <a:pt x="2354465" y="3853151"/>
                  <a:pt x="2361973" y="3873993"/>
                  <a:pt x="2376990" y="3888750"/>
                </a:cubicBezTo>
                <a:cubicBezTo>
                  <a:pt x="2392006" y="3903507"/>
                  <a:pt x="2413235" y="3910886"/>
                  <a:pt x="2440679" y="3910886"/>
                </a:cubicBezTo>
                <a:cubicBezTo>
                  <a:pt x="2463980" y="3910886"/>
                  <a:pt x="2484821" y="3903378"/>
                  <a:pt x="2503203" y="3888362"/>
                </a:cubicBezTo>
                <a:cubicBezTo>
                  <a:pt x="2521584" y="3873345"/>
                  <a:pt x="2535824" y="3853022"/>
                  <a:pt x="2545921" y="3827391"/>
                </a:cubicBezTo>
                <a:cubicBezTo>
                  <a:pt x="2556018" y="3801760"/>
                  <a:pt x="2561067" y="3773928"/>
                  <a:pt x="2561067" y="3743896"/>
                </a:cubicBezTo>
                <a:lnTo>
                  <a:pt x="2561067" y="3740789"/>
                </a:lnTo>
                <a:close/>
                <a:moveTo>
                  <a:pt x="6988475" y="3464285"/>
                </a:moveTo>
                <a:cubicBezTo>
                  <a:pt x="7036112" y="3464285"/>
                  <a:pt x="7071452" y="3482667"/>
                  <a:pt x="7094494" y="3519431"/>
                </a:cubicBezTo>
                <a:cubicBezTo>
                  <a:pt x="7117536" y="3556194"/>
                  <a:pt x="7129057" y="3607715"/>
                  <a:pt x="7129057" y="3673993"/>
                </a:cubicBezTo>
                <a:cubicBezTo>
                  <a:pt x="7129057" y="3741825"/>
                  <a:pt x="7116760" y="3794511"/>
                  <a:pt x="7092164" y="3832051"/>
                </a:cubicBezTo>
                <a:cubicBezTo>
                  <a:pt x="7067568" y="3869592"/>
                  <a:pt x="7029898" y="3888362"/>
                  <a:pt x="6979154" y="3888362"/>
                </a:cubicBezTo>
                <a:cubicBezTo>
                  <a:pt x="6934624" y="3888362"/>
                  <a:pt x="6900708" y="3869203"/>
                  <a:pt x="6877408" y="3830886"/>
                </a:cubicBezTo>
                <a:cubicBezTo>
                  <a:pt x="6854106" y="3792569"/>
                  <a:pt x="6842456" y="3740272"/>
                  <a:pt x="6842456" y="3673993"/>
                </a:cubicBezTo>
                <a:cubicBezTo>
                  <a:pt x="6842456" y="3607715"/>
                  <a:pt x="6854365" y="3556194"/>
                  <a:pt x="6878184" y="3519431"/>
                </a:cubicBezTo>
                <a:cubicBezTo>
                  <a:pt x="6902003" y="3482667"/>
                  <a:pt x="6938766" y="3464285"/>
                  <a:pt x="6988475" y="3464285"/>
                </a:cubicBezTo>
                <a:close/>
                <a:moveTo>
                  <a:pt x="7583574" y="3242927"/>
                </a:moveTo>
                <a:lnTo>
                  <a:pt x="7583574" y="3801372"/>
                </a:lnTo>
                <a:cubicBezTo>
                  <a:pt x="7583574" y="3902342"/>
                  <a:pt x="7606357" y="3982213"/>
                  <a:pt x="7651923" y="4040983"/>
                </a:cubicBezTo>
                <a:cubicBezTo>
                  <a:pt x="7697489" y="4099753"/>
                  <a:pt x="7768946" y="4129138"/>
                  <a:pt x="7866291" y="4129138"/>
                </a:cubicBezTo>
                <a:cubicBezTo>
                  <a:pt x="7931016" y="4129138"/>
                  <a:pt x="7985902" y="4116193"/>
                  <a:pt x="8030951" y="4090303"/>
                </a:cubicBezTo>
                <a:cubicBezTo>
                  <a:pt x="8076000" y="4064413"/>
                  <a:pt x="8113540" y="4023766"/>
                  <a:pt x="8143572" y="3968361"/>
                </a:cubicBezTo>
                <a:lnTo>
                  <a:pt x="8146678" y="3968361"/>
                </a:lnTo>
                <a:cubicBezTo>
                  <a:pt x="8146678" y="3983378"/>
                  <a:pt x="8148232" y="4006549"/>
                  <a:pt x="8151339" y="4037876"/>
                </a:cubicBezTo>
                <a:cubicBezTo>
                  <a:pt x="8154446" y="4069202"/>
                  <a:pt x="8157552" y="4093151"/>
                  <a:pt x="8160659" y="4109720"/>
                </a:cubicBezTo>
                <a:lnTo>
                  <a:pt x="8451921" y="4109720"/>
                </a:lnTo>
                <a:cubicBezTo>
                  <a:pt x="8449332" y="4087455"/>
                  <a:pt x="8447131" y="4058458"/>
                  <a:pt x="8445319" y="4022730"/>
                </a:cubicBezTo>
                <a:cubicBezTo>
                  <a:pt x="8443506" y="3987002"/>
                  <a:pt x="8442600" y="3951274"/>
                  <a:pt x="8442600" y="3915546"/>
                </a:cubicBezTo>
                <a:lnTo>
                  <a:pt x="8442600" y="3242927"/>
                </a:lnTo>
                <a:lnTo>
                  <a:pt x="8139688" y="3242927"/>
                </a:lnTo>
                <a:lnTo>
                  <a:pt x="8139688" y="3694187"/>
                </a:lnTo>
                <a:cubicBezTo>
                  <a:pt x="8139688" y="3751145"/>
                  <a:pt x="8127909" y="3794899"/>
                  <a:pt x="8104348" y="3825449"/>
                </a:cubicBezTo>
                <a:cubicBezTo>
                  <a:pt x="8080789" y="3855999"/>
                  <a:pt x="8045968" y="3871274"/>
                  <a:pt x="7999883" y="3871274"/>
                </a:cubicBezTo>
                <a:cubicBezTo>
                  <a:pt x="7958978" y="3871274"/>
                  <a:pt x="7929722" y="3857941"/>
                  <a:pt x="7912116" y="3831275"/>
                </a:cubicBezTo>
                <a:cubicBezTo>
                  <a:pt x="7894512" y="3804608"/>
                  <a:pt x="7885708" y="3765903"/>
                  <a:pt x="7885708" y="3715158"/>
                </a:cubicBezTo>
                <a:lnTo>
                  <a:pt x="7885708" y="3242927"/>
                </a:lnTo>
                <a:close/>
                <a:moveTo>
                  <a:pt x="2494271" y="3229723"/>
                </a:moveTo>
                <a:cubicBezTo>
                  <a:pt x="2617506" y="3229723"/>
                  <a:pt x="2711487" y="3257296"/>
                  <a:pt x="2776212" y="3312441"/>
                </a:cubicBezTo>
                <a:cubicBezTo>
                  <a:pt x="2840936" y="3367587"/>
                  <a:pt x="2873299" y="3457295"/>
                  <a:pt x="2873299" y="3581567"/>
                </a:cubicBezTo>
                <a:lnTo>
                  <a:pt x="2873299" y="3775741"/>
                </a:lnTo>
                <a:cubicBezTo>
                  <a:pt x="2873299" y="3909850"/>
                  <a:pt x="2875888" y="4021177"/>
                  <a:pt x="2881066" y="4109720"/>
                </a:cubicBezTo>
                <a:lnTo>
                  <a:pt x="2588251" y="4109720"/>
                </a:lnTo>
                <a:cubicBezTo>
                  <a:pt x="2584108" y="4067261"/>
                  <a:pt x="2582037" y="4029203"/>
                  <a:pt x="2582037" y="3995546"/>
                </a:cubicBezTo>
                <a:lnTo>
                  <a:pt x="2577377" y="3995546"/>
                </a:lnTo>
                <a:cubicBezTo>
                  <a:pt x="2552006" y="4035416"/>
                  <a:pt x="2519514" y="4067002"/>
                  <a:pt x="2479902" y="4090303"/>
                </a:cubicBezTo>
                <a:cubicBezTo>
                  <a:pt x="2440291" y="4113604"/>
                  <a:pt x="2388899" y="4125254"/>
                  <a:pt x="2325728" y="4125254"/>
                </a:cubicBezTo>
                <a:cubicBezTo>
                  <a:pt x="2271877" y="4125254"/>
                  <a:pt x="2224887" y="4113604"/>
                  <a:pt x="2184757" y="4090303"/>
                </a:cubicBezTo>
                <a:cubicBezTo>
                  <a:pt x="2144628" y="4067002"/>
                  <a:pt x="2113819" y="4034898"/>
                  <a:pt x="2092330" y="3993992"/>
                </a:cubicBezTo>
                <a:cubicBezTo>
                  <a:pt x="2070842" y="3953086"/>
                  <a:pt x="2060098" y="3906226"/>
                  <a:pt x="2060098" y="3853410"/>
                </a:cubicBezTo>
                <a:cubicBezTo>
                  <a:pt x="2060098" y="3764349"/>
                  <a:pt x="2088059" y="3697035"/>
                  <a:pt x="2143981" y="3651469"/>
                </a:cubicBezTo>
                <a:cubicBezTo>
                  <a:pt x="2199903" y="3605903"/>
                  <a:pt x="2282233" y="3581567"/>
                  <a:pt x="2390970" y="3578460"/>
                </a:cubicBezTo>
                <a:lnTo>
                  <a:pt x="2561067" y="3573799"/>
                </a:lnTo>
                <a:lnTo>
                  <a:pt x="2561067" y="3552829"/>
                </a:lnTo>
                <a:cubicBezTo>
                  <a:pt x="2561067" y="3490175"/>
                  <a:pt x="2521455" y="3458848"/>
                  <a:pt x="2442232" y="3458848"/>
                </a:cubicBezTo>
                <a:cubicBezTo>
                  <a:pt x="2402879" y="3458848"/>
                  <a:pt x="2367151" y="3467392"/>
                  <a:pt x="2335048" y="3484479"/>
                </a:cubicBezTo>
                <a:cubicBezTo>
                  <a:pt x="2302944" y="3501567"/>
                  <a:pt x="2270841" y="3523314"/>
                  <a:pt x="2238738" y="3549722"/>
                </a:cubicBezTo>
                <a:lnTo>
                  <a:pt x="2111359" y="3365645"/>
                </a:lnTo>
                <a:cubicBezTo>
                  <a:pt x="2158997" y="3326810"/>
                  <a:pt x="2213754" y="3294447"/>
                  <a:pt x="2275631" y="3268558"/>
                </a:cubicBezTo>
                <a:cubicBezTo>
                  <a:pt x="2337507" y="3242668"/>
                  <a:pt x="2410388" y="3229723"/>
                  <a:pt x="2494271" y="3229723"/>
                </a:cubicBezTo>
                <a:close/>
                <a:moveTo>
                  <a:pt x="6985368" y="3226616"/>
                </a:moveTo>
                <a:cubicBezTo>
                  <a:pt x="6883362" y="3226616"/>
                  <a:pt x="6797796" y="3247069"/>
                  <a:pt x="6728670" y="3287975"/>
                </a:cubicBezTo>
                <a:cubicBezTo>
                  <a:pt x="6659544" y="3328881"/>
                  <a:pt x="6608152" y="3383250"/>
                  <a:pt x="6574496" y="3451081"/>
                </a:cubicBezTo>
                <a:cubicBezTo>
                  <a:pt x="6540839" y="3518913"/>
                  <a:pt x="6524011" y="3593217"/>
                  <a:pt x="6524011" y="3673993"/>
                </a:cubicBezTo>
                <a:cubicBezTo>
                  <a:pt x="6524011" y="3757359"/>
                  <a:pt x="6541357" y="3833216"/>
                  <a:pt x="6576049" y="3901566"/>
                </a:cubicBezTo>
                <a:cubicBezTo>
                  <a:pt x="6610742" y="3969915"/>
                  <a:pt x="6662392" y="4024284"/>
                  <a:pt x="6731000" y="4064672"/>
                </a:cubicBezTo>
                <a:cubicBezTo>
                  <a:pt x="6799608" y="4105060"/>
                  <a:pt x="6882844" y="4125254"/>
                  <a:pt x="6980708" y="4125254"/>
                </a:cubicBezTo>
                <a:cubicBezTo>
                  <a:pt x="7082714" y="4125254"/>
                  <a:pt x="7168668" y="4104801"/>
                  <a:pt x="7238572" y="4063895"/>
                </a:cubicBezTo>
                <a:cubicBezTo>
                  <a:pt x="7308474" y="4022989"/>
                  <a:pt x="7360642" y="3968361"/>
                  <a:pt x="7395076" y="3900012"/>
                </a:cubicBezTo>
                <a:cubicBezTo>
                  <a:pt x="7429510" y="3831663"/>
                  <a:pt x="7446726" y="3756323"/>
                  <a:pt x="7446726" y="3673993"/>
                </a:cubicBezTo>
                <a:cubicBezTo>
                  <a:pt x="7446726" y="3591146"/>
                  <a:pt x="7431063" y="3516194"/>
                  <a:pt x="7399736" y="3449140"/>
                </a:cubicBezTo>
                <a:cubicBezTo>
                  <a:pt x="7368410" y="3382085"/>
                  <a:pt x="7318442" y="3328234"/>
                  <a:pt x="7249834" y="3287587"/>
                </a:cubicBezTo>
                <a:cubicBezTo>
                  <a:pt x="7181226" y="3246939"/>
                  <a:pt x="7093070" y="3226616"/>
                  <a:pt x="6985368" y="3226616"/>
                </a:cubicBezTo>
                <a:close/>
                <a:moveTo>
                  <a:pt x="3620137" y="3226616"/>
                </a:moveTo>
                <a:cubicBezTo>
                  <a:pt x="3718519" y="3226616"/>
                  <a:pt x="3790363" y="3255483"/>
                  <a:pt x="3835670" y="3313218"/>
                </a:cubicBezTo>
                <a:cubicBezTo>
                  <a:pt x="3880978" y="3370952"/>
                  <a:pt x="3903631" y="3450305"/>
                  <a:pt x="3903631" y="3551275"/>
                </a:cubicBezTo>
                <a:lnTo>
                  <a:pt x="3903631" y="4109720"/>
                </a:lnTo>
                <a:lnTo>
                  <a:pt x="3601496" y="4109720"/>
                </a:lnTo>
                <a:lnTo>
                  <a:pt x="3601496" y="3637489"/>
                </a:lnTo>
                <a:cubicBezTo>
                  <a:pt x="3601496" y="3586744"/>
                  <a:pt x="3592694" y="3548039"/>
                  <a:pt x="3575088" y="3521373"/>
                </a:cubicBezTo>
                <a:cubicBezTo>
                  <a:pt x="3557484" y="3494706"/>
                  <a:pt x="3527969" y="3481372"/>
                  <a:pt x="3486545" y="3481372"/>
                </a:cubicBezTo>
                <a:cubicBezTo>
                  <a:pt x="3440979" y="3481372"/>
                  <a:pt x="3406287" y="3496648"/>
                  <a:pt x="3382468" y="3527198"/>
                </a:cubicBezTo>
                <a:cubicBezTo>
                  <a:pt x="3358649" y="3557748"/>
                  <a:pt x="3346740" y="3601243"/>
                  <a:pt x="3346740" y="3657683"/>
                </a:cubicBezTo>
                <a:lnTo>
                  <a:pt x="3346740" y="4109720"/>
                </a:lnTo>
                <a:lnTo>
                  <a:pt x="3044605" y="4109720"/>
                </a:lnTo>
                <a:lnTo>
                  <a:pt x="3044605" y="3437101"/>
                </a:lnTo>
                <a:cubicBezTo>
                  <a:pt x="3044605" y="3400855"/>
                  <a:pt x="3043698" y="3365127"/>
                  <a:pt x="3041886" y="3329917"/>
                </a:cubicBezTo>
                <a:cubicBezTo>
                  <a:pt x="3040074" y="3294706"/>
                  <a:pt x="3037873" y="3265710"/>
                  <a:pt x="3035284" y="3242927"/>
                </a:cubicBezTo>
                <a:lnTo>
                  <a:pt x="3326545" y="3242927"/>
                </a:lnTo>
                <a:cubicBezTo>
                  <a:pt x="3329652" y="3259496"/>
                  <a:pt x="3332759" y="3283444"/>
                  <a:pt x="3335866" y="3314771"/>
                </a:cubicBezTo>
                <a:cubicBezTo>
                  <a:pt x="3338973" y="3346098"/>
                  <a:pt x="3340526" y="3369269"/>
                  <a:pt x="3340526" y="3384285"/>
                </a:cubicBezTo>
                <a:lnTo>
                  <a:pt x="3343633" y="3384285"/>
                </a:lnTo>
                <a:cubicBezTo>
                  <a:pt x="3373665" y="3329917"/>
                  <a:pt x="3411335" y="3290046"/>
                  <a:pt x="3456642" y="3264674"/>
                </a:cubicBezTo>
                <a:cubicBezTo>
                  <a:pt x="3501950" y="3239302"/>
                  <a:pt x="3556448" y="3226616"/>
                  <a:pt x="3620137" y="3226616"/>
                </a:cubicBezTo>
                <a:close/>
                <a:moveTo>
                  <a:pt x="5379499" y="3015354"/>
                </a:moveTo>
                <a:lnTo>
                  <a:pt x="5764741" y="3724479"/>
                </a:lnTo>
                <a:lnTo>
                  <a:pt x="5764741" y="4109720"/>
                </a:lnTo>
                <a:lnTo>
                  <a:pt x="6082410" y="4109720"/>
                </a:lnTo>
                <a:lnTo>
                  <a:pt x="6082410" y="3724479"/>
                </a:lnTo>
                <a:lnTo>
                  <a:pt x="6469205" y="3015354"/>
                </a:lnTo>
                <a:lnTo>
                  <a:pt x="6125905" y="3015354"/>
                </a:lnTo>
                <a:lnTo>
                  <a:pt x="5922410" y="3441761"/>
                </a:lnTo>
                <a:lnTo>
                  <a:pt x="5725129" y="3015354"/>
                </a:lnTo>
                <a:close/>
                <a:moveTo>
                  <a:pt x="0" y="3015354"/>
                </a:moveTo>
                <a:lnTo>
                  <a:pt x="953784" y="3015354"/>
                </a:lnTo>
                <a:lnTo>
                  <a:pt x="953784" y="3279432"/>
                </a:lnTo>
                <a:lnTo>
                  <a:pt x="636115" y="3279432"/>
                </a:lnTo>
                <a:lnTo>
                  <a:pt x="636115" y="4109720"/>
                </a:lnTo>
                <a:lnTo>
                  <a:pt x="317669" y="4109720"/>
                </a:lnTo>
                <a:lnTo>
                  <a:pt x="317669" y="3279432"/>
                </a:lnTo>
                <a:lnTo>
                  <a:pt x="0" y="3279432"/>
                </a:lnTo>
                <a:close/>
                <a:moveTo>
                  <a:pt x="4087695" y="2943898"/>
                </a:moveTo>
                <a:lnTo>
                  <a:pt x="4120844" y="2943898"/>
                </a:lnTo>
                <a:lnTo>
                  <a:pt x="4175903" y="3107442"/>
                </a:lnTo>
                <a:cubicBezTo>
                  <a:pt x="4212022" y="3228168"/>
                  <a:pt x="4232661" y="3331377"/>
                  <a:pt x="4232661" y="3411232"/>
                </a:cubicBezTo>
                <a:cubicBezTo>
                  <a:pt x="4251513" y="3636689"/>
                  <a:pt x="4204691" y="3848229"/>
                  <a:pt x="4113752" y="4048242"/>
                </a:cubicBezTo>
                <a:lnTo>
                  <a:pt x="4087695" y="4097018"/>
                </a:lnTo>
                <a:close/>
                <a:moveTo>
                  <a:pt x="1072930" y="2943898"/>
                </a:moveTo>
                <a:lnTo>
                  <a:pt x="1375065" y="2943898"/>
                </a:lnTo>
                <a:lnTo>
                  <a:pt x="1375065" y="3249140"/>
                </a:lnTo>
                <a:cubicBezTo>
                  <a:pt x="1375065" y="3299884"/>
                  <a:pt x="1373511" y="3341308"/>
                  <a:pt x="1370405" y="3373412"/>
                </a:cubicBezTo>
                <a:lnTo>
                  <a:pt x="1373511" y="3373412"/>
                </a:lnTo>
                <a:cubicBezTo>
                  <a:pt x="1401990" y="3324221"/>
                  <a:pt x="1438624" y="3287457"/>
                  <a:pt x="1483414" y="3263121"/>
                </a:cubicBezTo>
                <a:cubicBezTo>
                  <a:pt x="1528203" y="3238784"/>
                  <a:pt x="1583220" y="3226616"/>
                  <a:pt x="1648462" y="3226616"/>
                </a:cubicBezTo>
                <a:cubicBezTo>
                  <a:pt x="1747879" y="3226616"/>
                  <a:pt x="1819983" y="3255354"/>
                  <a:pt x="1864772" y="3312829"/>
                </a:cubicBezTo>
                <a:cubicBezTo>
                  <a:pt x="1909562" y="3370305"/>
                  <a:pt x="1931956" y="3449787"/>
                  <a:pt x="1931956" y="3551275"/>
                </a:cubicBezTo>
                <a:lnTo>
                  <a:pt x="1931956" y="4109720"/>
                </a:lnTo>
                <a:lnTo>
                  <a:pt x="1629821" y="4109720"/>
                </a:lnTo>
                <a:lnTo>
                  <a:pt x="1629821" y="3637489"/>
                </a:lnTo>
                <a:cubicBezTo>
                  <a:pt x="1629821" y="3586744"/>
                  <a:pt x="1621019" y="3548039"/>
                  <a:pt x="1603414" y="3521373"/>
                </a:cubicBezTo>
                <a:cubicBezTo>
                  <a:pt x="1585809" y="3494706"/>
                  <a:pt x="1556294" y="3481372"/>
                  <a:pt x="1514870" y="3481372"/>
                </a:cubicBezTo>
                <a:cubicBezTo>
                  <a:pt x="1469304" y="3481372"/>
                  <a:pt x="1434612" y="3496648"/>
                  <a:pt x="1410793" y="3527198"/>
                </a:cubicBezTo>
                <a:cubicBezTo>
                  <a:pt x="1386974" y="3557748"/>
                  <a:pt x="1375065" y="3601243"/>
                  <a:pt x="1375065" y="3657683"/>
                </a:cubicBezTo>
                <a:lnTo>
                  <a:pt x="1375065" y="4109720"/>
                </a:lnTo>
                <a:lnTo>
                  <a:pt x="1072930" y="4109720"/>
                </a:lnTo>
                <a:close/>
                <a:moveTo>
                  <a:pt x="2911743" y="0"/>
                </a:moveTo>
                <a:lnTo>
                  <a:pt x="10576192" y="0"/>
                </a:lnTo>
                <a:lnTo>
                  <a:pt x="10576192" y="8102600"/>
                </a:lnTo>
                <a:lnTo>
                  <a:pt x="2911743" y="8102600"/>
                </a:lnTo>
                <a:cubicBezTo>
                  <a:pt x="1734876" y="7954608"/>
                  <a:pt x="1835397" y="6966756"/>
                  <a:pt x="2200542" y="6193494"/>
                </a:cubicBezTo>
                <a:cubicBezTo>
                  <a:pt x="2474401" y="5613548"/>
                  <a:pt x="3537094" y="5014871"/>
                  <a:pt x="4008907" y="4244500"/>
                </a:cubicBezTo>
                <a:lnTo>
                  <a:pt x="4087695" y="4097018"/>
                </a:lnTo>
                <a:lnTo>
                  <a:pt x="4087695" y="4109720"/>
                </a:lnTo>
                <a:lnTo>
                  <a:pt x="4389830" y="4109720"/>
                </a:lnTo>
                <a:lnTo>
                  <a:pt x="4389830" y="3845643"/>
                </a:lnTo>
                <a:lnTo>
                  <a:pt x="4459732" y="3778847"/>
                </a:lnTo>
                <a:lnTo>
                  <a:pt x="4636043" y="4109720"/>
                </a:lnTo>
                <a:lnTo>
                  <a:pt x="4987886" y="4109720"/>
                </a:lnTo>
                <a:lnTo>
                  <a:pt x="4674877" y="3589334"/>
                </a:lnTo>
                <a:lnTo>
                  <a:pt x="4969245" y="3242927"/>
                </a:lnTo>
                <a:lnTo>
                  <a:pt x="4618955" y="3242927"/>
                </a:lnTo>
                <a:lnTo>
                  <a:pt x="4389830" y="3555936"/>
                </a:lnTo>
                <a:lnTo>
                  <a:pt x="4389830" y="2943898"/>
                </a:lnTo>
                <a:lnTo>
                  <a:pt x="4120844" y="2943898"/>
                </a:lnTo>
                <a:lnTo>
                  <a:pt x="4110760" y="2913946"/>
                </a:lnTo>
                <a:cubicBezTo>
                  <a:pt x="3783755" y="2024860"/>
                  <a:pt x="2911743" y="519054"/>
                  <a:pt x="2911743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ZA" sz="12500" dirty="0"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28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225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72 Black</vt:lpstr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Lerato Monnakgotla</dc:creator>
  <cp:lastModifiedBy>Bonolo Masibi</cp:lastModifiedBy>
  <cp:revision>3</cp:revision>
  <dcterms:created xsi:type="dcterms:W3CDTF">2026-07-15T16:50:44Z</dcterms:created>
  <dcterms:modified xsi:type="dcterms:W3CDTF">2026-07-16T17:05:59Z</dcterms:modified>
</cp:coreProperties>
</file>